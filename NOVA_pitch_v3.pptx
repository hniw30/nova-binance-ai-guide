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1371600"/>
            <a:ext cx="5486400" cy="5486400"/>
          </a:xfrm>
          <a:prstGeom prst="ellipse">
            <a:avLst/>
          </a:prstGeom>
          <a:solidFill>
            <a:srgbClr val="F0B90B">
              <a:alpha val="8000"/>
            </a:srgbClr>
          </a:solidFill>
          <a:ln w="12700">
            <a:solidFill>
              <a:srgbClr val="F0B90B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-731520"/>
            <a:ext cx="4114800" cy="4114800"/>
          </a:xfrm>
          <a:prstGeom prst="ellipse">
            <a:avLst/>
          </a:prstGeom>
          <a:solidFill>
            <a:srgbClr val="F0B90B">
              <a:alpha val="15000"/>
            </a:srgbClr>
          </a:solidFill>
          <a:ln w="12700">
            <a:solidFill>
              <a:srgbClr val="F0B90B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7091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AI Innovation Competition 2026  ·  Binance Ecosystem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475488"/>
            <a:ext cx="749808" cy="749808"/>
          </a:xfrm>
          <a:prstGeom prst="ellipse">
            <a:avLst/>
          </a:prstGeom>
          <a:solidFill>
            <a:srgbClr val="F0B90B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47548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✦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43891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600" kern="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1389888" y="1188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Global Binance AI Guide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"Binance speaks every language.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it finally understands yours."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37960" y="475488"/>
            <a:ext cx="1060704" cy="347472"/>
          </a:xfrm>
          <a:prstGeom prst="rect">
            <a:avLst/>
          </a:prstGeom>
          <a:solidFill>
            <a:srgbClr val="1E2329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475488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AI Chat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537960" y="950976"/>
            <a:ext cx="1060704" cy="347472"/>
          </a:xfrm>
          <a:prstGeom prst="rect">
            <a:avLst/>
          </a:prstGeom>
          <a:solidFill>
            <a:srgbClr val="1E2329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950976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Voice Call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37960" y="1426464"/>
            <a:ext cx="1060704" cy="347472"/>
          </a:xfrm>
          <a:prstGeom prst="rect">
            <a:avLst/>
          </a:prstGeom>
          <a:solidFill>
            <a:srgbClr val="1E2329"/>
          </a:solidFill>
          <a:ln w="12700">
            <a:solidFill>
              <a:srgbClr val="0ECB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1426464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12 AI Skills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26680" y="475488"/>
            <a:ext cx="1060704" cy="347472"/>
          </a:xfrm>
          <a:prstGeom prst="rect">
            <a:avLst/>
          </a:prstGeom>
          <a:solidFill>
            <a:srgbClr val="1E2329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6680" y="475488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Web3 Guide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726680" y="950976"/>
            <a:ext cx="1060704" cy="347472"/>
          </a:xfrm>
          <a:prstGeom prst="rect">
            <a:avLst/>
          </a:prstGeom>
          <a:solidFill>
            <a:srgbClr val="1E2329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26680" y="950976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Live Dubbing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26680" y="1426464"/>
            <a:ext cx="1060704" cy="347472"/>
          </a:xfrm>
          <a:prstGeom prst="rect">
            <a:avLst/>
          </a:prstGeom>
          <a:solidFill>
            <a:srgbClr val="1E2329"/>
          </a:solidFill>
          <a:ln w="12700">
            <a:solidFill>
              <a:srgbClr val="F646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26680" y="1426464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Fact-Check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8346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Features  ·  12 Binance AI Skills  ·  4 Languages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new crypto users are lost on Binance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3931920" cy="1389888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70432"/>
            <a:ext cx="64008" cy="1389888"/>
          </a:xfrm>
          <a:prstGeom prst="rect">
            <a:avLst/>
          </a:prstGeom>
          <a:solidFill>
            <a:srgbClr val="F6465D"/>
          </a:solidFill>
          <a:ln w="12700">
            <a:solidFill>
              <a:srgbClr val="F646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618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3911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of Binance's growth comes from non-English markets. The interface is complex and jargon-heavy.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1170432"/>
            <a:ext cx="3931920" cy="1389888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170432"/>
            <a:ext cx="64008" cy="1389888"/>
          </a:xfrm>
          <a:prstGeom prst="rect">
            <a:avLst/>
          </a:prstGeom>
          <a:solidFill>
            <a:srgbClr val="F6465D"/>
          </a:solidFill>
          <a:ln w="12700">
            <a:solidFill>
              <a:srgbClr val="F646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2312" y="12618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😰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0060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overwhelm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03911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Spot, Futures, P2P, Earn, Web3, Square — new users don't know where to start or what's safe.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724912"/>
            <a:ext cx="3931920" cy="1389888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724912"/>
            <a:ext cx="64008" cy="1389888"/>
          </a:xfrm>
          <a:prstGeom prst="rect">
            <a:avLst/>
          </a:prstGeom>
          <a:solidFill>
            <a:srgbClr val="F6465D"/>
          </a:solidFill>
          <a:ln w="12700">
            <a:solidFill>
              <a:srgbClr val="F646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8163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vulnerability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5935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fraud, phishing dApps, fake airdrops — beginners lose money within their first week.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17720" y="2724912"/>
            <a:ext cx="3931920" cy="1389888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2724912"/>
            <a:ext cx="64008" cy="1389888"/>
          </a:xfrm>
          <a:prstGeom prst="rect">
            <a:avLst/>
          </a:prstGeom>
          <a:solidFill>
            <a:srgbClr val="F6465D"/>
          </a:solidFill>
          <a:ln w="12700">
            <a:solidFill>
              <a:srgbClr val="F646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28163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📵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0060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gap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35935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 support has queues. Users need instant guidance at the exact moment they're about to make a mistake.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5354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EU MiCA 2025 and global crypto regulation in 2026, millions of first-time users will flood Binance.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NOVA: A small AI widget. A giant leap for Binance users.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0" y="1143000"/>
            <a:ext cx="2743200" cy="3657600"/>
          </a:xfrm>
          <a:prstGeom prst="rect">
            <a:avLst/>
          </a:prstGeom>
          <a:solidFill>
            <a:srgbClr val="161A1F"/>
          </a:solidFill>
          <a:ln w="19050">
            <a:solidFill>
              <a:srgbClr val="F0B90B"/>
            </a:solidFill>
            <a:prstDash val="solid"/>
          </a:ln>
          <a:effectLst>
            <a:outerShdw sx="100000" sy="100000" kx="0" ky="0" algn="bl" rotWithShape="0" blurRad="355600" dist="76200" dir="8100000">
              <a:srgbClr val="000000">
                <a:alpha val="5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0" y="1143000"/>
            <a:ext cx="2743200" cy="411480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1188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Binance  |  BTC/USDT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13248" y="4389120"/>
            <a:ext cx="475488" cy="475488"/>
          </a:xfrm>
          <a:prstGeom prst="ellipse">
            <a:avLst/>
          </a:prstGeom>
          <a:solidFill>
            <a:srgbClr val="F0B90B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13248" y="4389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✦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4840" y="1664208"/>
            <a:ext cx="1719072" cy="256032"/>
          </a:xfrm>
          <a:prstGeom prst="rect">
            <a:avLst/>
          </a:prstGeom>
          <a:solidFill>
            <a:srgbClr val="1A3A6B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9704" y="169164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buy BTC?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273552" y="2121408"/>
            <a:ext cx="1719072" cy="512064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8416" y="214884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Trade → Basic → BTC/USDT → Buy. Start with $20 to get comfortable! 💡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434840" y="2971800"/>
            <a:ext cx="1719072" cy="256032"/>
          </a:xfrm>
          <a:prstGeom prst="rect">
            <a:avLst/>
          </a:prstGeom>
          <a:solidFill>
            <a:srgbClr val="1A3A6B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9704" y="299923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SOL for me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273552" y="3401568"/>
            <a:ext cx="1719072" cy="512064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28416" y="34290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Running 12 Binance AI Skills...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7432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✦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" y="1234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the corner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1508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widget — never covers Binance content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👁️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2286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Screen-aware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2560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what you're viewing, proactively helps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432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22960" y="3337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3611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and responds in your language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722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720840" y="1234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protective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20840" y="1508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before mistakes. Flags scams instantly.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722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20840" y="2286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20840" y="2560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beginner, intermediate, or expert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7220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720840" y="3337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AI Skills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20840" y="3611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Binance's own AI Agent Skills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global Binance user needs, in one widget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993392" cy="1783080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1993392" cy="45720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1556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38328" y="155448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1865376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Claude-powered. Remembers context.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12+ languages.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04872" y="1005840"/>
            <a:ext cx="1993392" cy="1783080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04872" y="1005840"/>
            <a:ext cx="1993392" cy="4572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111556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🎙️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14600" y="155448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Call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1865376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naturally, NOVA listens,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in your language.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81144" y="1005840"/>
            <a:ext cx="1993392" cy="1783080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81144" y="1005840"/>
            <a:ext cx="1993392" cy="45720"/>
          </a:xfrm>
          <a:prstGeom prst="rect">
            <a:avLst/>
          </a:prstGeom>
          <a:solidFill>
            <a:srgbClr val="0ECB81"/>
          </a:solidFill>
          <a:ln w="12700">
            <a:solidFill>
              <a:srgbClr val="0ECB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81144" y="111556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90872" y="155448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Intelligence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90872" y="1865376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Binance AI Skills scan any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in real-time.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57416" y="1005840"/>
            <a:ext cx="1993392" cy="1783080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57416" y="1005840"/>
            <a:ext cx="1993392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57416" y="111556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867144" y="155448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Guide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67144" y="1865376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wallet, bridge,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dApps, approvals, scams.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971800"/>
            <a:ext cx="1993392" cy="1783080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2971800"/>
            <a:ext cx="1993392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308152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📺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38328" y="352044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Dubbing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" y="3831336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+ dub Binance Square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your language.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04872" y="2971800"/>
            <a:ext cx="1993392" cy="1783080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04872" y="2971800"/>
            <a:ext cx="1993392" cy="45720"/>
          </a:xfrm>
          <a:prstGeom prst="rect">
            <a:avLst/>
          </a:prstGeom>
          <a:solidFill>
            <a:srgbClr val="F6465D"/>
          </a:solidFill>
          <a:ln w="12700">
            <a:solidFill>
              <a:srgbClr val="F6465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04872" y="308152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2514600" y="352044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14600" y="3831336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fake news, scam posts,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claims instantly.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81144" y="2971800"/>
            <a:ext cx="1993392" cy="1783080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81144" y="2971800"/>
            <a:ext cx="1993392" cy="45720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08152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4690872" y="352044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 Feed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90872" y="3831336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KOLs, NOVA translates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posts in real-time.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57416" y="2971800"/>
            <a:ext cx="1993392" cy="1783080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57416" y="2971800"/>
            <a:ext cx="1993392" cy="45720"/>
          </a:xfrm>
          <a:prstGeom prst="rect">
            <a:avLst/>
          </a:prstGeom>
          <a:solidFill>
            <a:srgbClr val="0ECB81"/>
          </a:solidFill>
          <a:ln w="12700">
            <a:solidFill>
              <a:srgbClr val="0ECB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57416" y="308152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🔔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6867144" y="352044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Reminders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67144" y="3831336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Scheduled, incomplete tasks,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interaction history.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INTELLIGENCE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Real Binance AI Agent Skills — launched March 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1298448" cy="1389888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7899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9184" y="15179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 Spot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38912" y="1956816"/>
            <a:ext cx="969264" cy="237744"/>
          </a:xfrm>
          <a:prstGeom prst="rect">
            <a:avLst/>
          </a:prstGeom>
          <a:solidFill>
            <a:srgbClr val="2B3139"/>
          </a:solidFill>
          <a:ln w="12700">
            <a:solidFill>
              <a:srgbClr val="70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95681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709928" y="987552"/>
            <a:ext cx="1298448" cy="1389888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09928" y="107899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👜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64792" y="15179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 Wallet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74520" y="1956816"/>
            <a:ext cx="969264" cy="237744"/>
          </a:xfrm>
          <a:prstGeom prst="rect">
            <a:avLst/>
          </a:prstGeom>
          <a:solidFill>
            <a:srgbClr val="2B3139"/>
          </a:solidFill>
          <a:ln w="12700">
            <a:solidFill>
              <a:srgbClr val="707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195681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145536" y="987552"/>
            <a:ext cx="1298448" cy="1389888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45536" y="107899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200400" y="15179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Address Info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10128" y="1956816"/>
            <a:ext cx="969264" cy="237744"/>
          </a:xfrm>
          <a:prstGeom prst="rect">
            <a:avLst/>
          </a:prstGeom>
          <a:solidFill>
            <a:srgbClr val="2B3139"/>
          </a:solidFill>
          <a:ln w="12700">
            <a:solidFill>
              <a:srgbClr val="707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195681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81144" y="987552"/>
            <a:ext cx="1298448" cy="1389888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81144" y="107899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🪙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36008" y="15179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Token Info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45736" y="1956816"/>
            <a:ext cx="969264" cy="237744"/>
          </a:xfrm>
          <a:prstGeom prst="rect">
            <a:avLst/>
          </a:prstGeom>
          <a:solidFill>
            <a:srgbClr val="2B3139"/>
          </a:solidFill>
          <a:ln w="12700">
            <a:solidFill>
              <a:srgbClr val="707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45736" y="195681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016752" y="987552"/>
            <a:ext cx="1298448" cy="1389888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16752" y="107899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071616" y="15179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Ranking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81344" y="1956816"/>
            <a:ext cx="969264" cy="237744"/>
          </a:xfrm>
          <a:prstGeom prst="rect">
            <a:avLst/>
          </a:prstGeom>
          <a:solidFill>
            <a:srgbClr val="2B3139"/>
          </a:solidFill>
          <a:ln w="12700">
            <a:solidFill>
              <a:srgbClr val="707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81344" y="195681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452360" y="987552"/>
            <a:ext cx="1298448" cy="1389888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52360" y="107899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🐋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507224" y="15179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Fund Signal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616952" y="1956816"/>
            <a:ext cx="969264" cy="237744"/>
          </a:xfrm>
          <a:prstGeom prst="rect">
            <a:avLst/>
          </a:prstGeom>
          <a:solidFill>
            <a:srgbClr val="2B3139"/>
          </a:solidFill>
          <a:ln w="12700">
            <a:solidFill>
              <a:srgbClr val="707A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16952" y="195681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74320" y="2560320"/>
            <a:ext cx="1298448" cy="1389888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74320" y="265176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329184" y="309067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Risk Detection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38912" y="3529584"/>
            <a:ext cx="969264" cy="237744"/>
          </a:xfrm>
          <a:prstGeom prst="rect">
            <a:avLst/>
          </a:prstGeom>
          <a:solidFill>
            <a:srgbClr val="2B3139"/>
          </a:solidFill>
          <a:ln w="12700">
            <a:solidFill>
              <a:srgbClr val="707A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352958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709928" y="2560320"/>
            <a:ext cx="1298448" cy="1389888"/>
          </a:xfrm>
          <a:prstGeom prst="rect">
            <a:avLst/>
          </a:prstGeom>
          <a:solidFill>
            <a:srgbClr val="1E2329"/>
          </a:solidFill>
          <a:ln w="19050">
            <a:solidFill>
              <a:srgbClr val="0ECB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709928" y="265176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1764792" y="309067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 Alpha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874520" y="3529584"/>
            <a:ext cx="969264" cy="237744"/>
          </a:xfrm>
          <a:prstGeom prst="rect">
            <a:avLst/>
          </a:prstGeom>
          <a:solidFill>
            <a:srgbClr val="0ECB81"/>
          </a:solidFill>
          <a:ln w="12700">
            <a:solidFill>
              <a:srgbClr val="0ECB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74520" y="352958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EC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Mar'26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145536" y="2560320"/>
            <a:ext cx="1298448" cy="1389888"/>
          </a:xfrm>
          <a:prstGeom prst="rect">
            <a:avLst/>
          </a:prstGeom>
          <a:solidFill>
            <a:srgbClr val="1E2329"/>
          </a:solidFill>
          <a:ln w="19050">
            <a:solidFill>
              <a:srgbClr val="0ECB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145536" y="265176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3200400" y="309067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USD-M Futures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310128" y="3529584"/>
            <a:ext cx="969264" cy="237744"/>
          </a:xfrm>
          <a:prstGeom prst="rect">
            <a:avLst/>
          </a:prstGeom>
          <a:solidFill>
            <a:srgbClr val="0ECB81"/>
          </a:solidFill>
          <a:ln w="12700">
            <a:solidFill>
              <a:srgbClr val="0ECB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10128" y="352958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EC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Mar'26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581144" y="2560320"/>
            <a:ext cx="1298448" cy="1389888"/>
          </a:xfrm>
          <a:prstGeom prst="rect">
            <a:avLst/>
          </a:prstGeom>
          <a:solidFill>
            <a:srgbClr val="1E2329"/>
          </a:solidFill>
          <a:ln w="19050">
            <a:solidFill>
              <a:srgbClr val="0ECB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581144" y="265176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4636008" y="309067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Trading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45736" y="3529584"/>
            <a:ext cx="969264" cy="237744"/>
          </a:xfrm>
          <a:prstGeom prst="rect">
            <a:avLst/>
          </a:prstGeom>
          <a:solidFill>
            <a:srgbClr val="0ECB81"/>
          </a:solidFill>
          <a:ln w="12700">
            <a:solidFill>
              <a:srgbClr val="0ECB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45736" y="352958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EC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Mar'26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016752" y="2560320"/>
            <a:ext cx="1298448" cy="1389888"/>
          </a:xfrm>
          <a:prstGeom prst="rect">
            <a:avLst/>
          </a:prstGeom>
          <a:solidFill>
            <a:srgbClr val="1E2329"/>
          </a:solidFill>
          <a:ln w="19050">
            <a:solidFill>
              <a:srgbClr val="0ECB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016752" y="265176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💼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6071616" y="309067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Management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181344" y="3529584"/>
            <a:ext cx="969264" cy="237744"/>
          </a:xfrm>
          <a:prstGeom prst="rect">
            <a:avLst/>
          </a:prstGeom>
          <a:solidFill>
            <a:srgbClr val="0ECB81"/>
          </a:solidFill>
          <a:ln w="12700">
            <a:solidFill>
              <a:srgbClr val="0ECB8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81344" y="352958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EC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Mar'26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7452360" y="2560320"/>
            <a:ext cx="1298448" cy="1389888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7452360" y="265176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📰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7507224" y="309067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&amp; Sentiment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616952" y="3529584"/>
            <a:ext cx="969264" cy="2377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616952" y="352958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NOVA+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5760" y="45354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synthesizes all 12 skills + Binance Square sentiment into one expert intelligence report per coin.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UX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watches, learns, and personalizes from the first second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77640" cy="3749040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3977640" cy="4572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15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SCREEN-AWARE CONTEXT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sees what you're viewing on Binance — even when the widget is closed.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0" y="2011680"/>
            <a:ext cx="2011680" cy="1417320"/>
          </a:xfrm>
          <a:prstGeom prst="rect">
            <a:avLst/>
          </a:prstGeom>
          <a:solidFill>
            <a:srgbClr val="161A1F"/>
          </a:solidFill>
          <a:ln w="12700">
            <a:solidFill>
              <a:srgbClr val="F0B9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94560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SOL/USDT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94560" y="23134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noticed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194560" y="254203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has been moving fast. Want NOVA to scan it with all 12 Binance AI Skills?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194560" y="3035808"/>
            <a:ext cx="804672" cy="228600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3035808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Analyze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035808" y="3035808"/>
            <a:ext cx="658368" cy="228600"/>
          </a:xfrm>
          <a:prstGeom prst="rect">
            <a:avLst/>
          </a:prstGeom>
          <a:solidFill>
            <a:srgbClr val="2B3139"/>
          </a:solidFill>
          <a:ln w="12700">
            <a:solidFill>
              <a:srgbClr val="2B31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5808" y="303580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194560" y="3310128"/>
            <a:ext cx="1499616" cy="36576"/>
          </a:xfrm>
          <a:prstGeom prst="rect">
            <a:avLst/>
          </a:prstGeom>
          <a:solidFill>
            <a:srgbClr val="2B3139"/>
          </a:solidFill>
          <a:ln w="12700">
            <a:solidFill>
              <a:srgbClr val="2B313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4560" y="3310128"/>
            <a:ext cx="914400" cy="36576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520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automatically when user switches coins — even panel closed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1005840"/>
            <a:ext cx="3977640" cy="3749040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1005840"/>
            <a:ext cx="3977640" cy="45720"/>
          </a:xfrm>
          <a:prstGeom prst="rect">
            <a:avLst/>
          </a:prstGeom>
          <a:solidFill>
            <a:srgbClr val="0ECB81"/>
          </a:solidFill>
          <a:ln w="12700">
            <a:solidFill>
              <a:srgbClr val="0ECB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1115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PERSONALIZED ONBOARDING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65192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quick questions — NOVA adapts forever.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65192" y="1810512"/>
            <a:ext cx="237744" cy="237744"/>
          </a:xfrm>
          <a:prstGeom prst="ellipse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5192" y="18105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85232" y="18288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familiar are you with crypto?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285232" y="20848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Beginner   📈 Intermediate   🔥 Advanced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965192" y="2761488"/>
            <a:ext cx="237744" cy="237744"/>
          </a:xfrm>
          <a:prstGeom prst="ellipse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65192" y="2761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85232" y="277977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mainly want to do?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285232" y="30358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💹 Trading   💰 Earn   🤝 P2P   🌐 Web3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965192" y="3712464"/>
            <a:ext cx="237744" cy="237744"/>
          </a:xfrm>
          <a:prstGeom prst="ellipse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65192" y="37124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85232" y="373075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language?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285232" y="39867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EN   🇻🇳 VI   🇨🇳 ZH   🇹🇷 TR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965192" y="3621024"/>
            <a:ext cx="3566160" cy="502920"/>
          </a:xfrm>
          <a:prstGeom prst="rect">
            <a:avLst/>
          </a:prstGeom>
          <a:solidFill>
            <a:srgbClr val="0ECB81"/>
          </a:solidFill>
          <a:ln w="12700">
            <a:solidFill>
              <a:srgbClr val="0ECB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02352" y="3657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C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NOVA adjusts tone, explanations, features shown, and first message — all personalized.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LIVE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NOVA. Watch Binance Square in your language.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3977640" cy="3767328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87552"/>
            <a:ext cx="3977640" cy="4572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97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VOICE CALL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" y="13898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phone-call feeling. NOVA listens, understands, responds in your language. When active, shrinks to a pill — never blocks the screen.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371600" y="2176272"/>
            <a:ext cx="1280160" cy="1280160"/>
          </a:xfrm>
          <a:prstGeom prst="ellipse">
            <a:avLst/>
          </a:prstGeom>
          <a:solidFill>
            <a:srgbClr val="1240A0"/>
          </a:solidFill>
          <a:ln w="25400">
            <a:solidFill>
              <a:srgbClr val="4A9E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0" y="2176272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AECEF"/>
                </a:solidFill>
              </a:rPr>
              <a:t>✦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2788920" y="2926080"/>
            <a:ext cx="91440" cy="18288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2825496"/>
            <a:ext cx="91440" cy="384048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2766060"/>
            <a:ext cx="91440" cy="50292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2857500"/>
            <a:ext cx="91440" cy="32004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0440" y="2734056"/>
            <a:ext cx="91440" cy="566928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03320" y="2816352"/>
            <a:ext cx="91440" cy="402336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86200" y="2889504"/>
            <a:ext cx="91440" cy="256032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69080" y="2935224"/>
            <a:ext cx="91440" cy="164592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3657600"/>
            <a:ext cx="3611880" cy="457200"/>
          </a:xfrm>
          <a:prstGeom prst="roundRect">
            <a:avLst>
              <a:gd name="adj" fmla="val 50000"/>
            </a:avLst>
          </a:prstGeom>
          <a:solidFill>
            <a:srgbClr val="161A1F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" y="3721608"/>
            <a:ext cx="329184" cy="329184"/>
          </a:xfrm>
          <a:prstGeom prst="ellipse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749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NOVA VOICE  ·  Listening...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063240" y="3794760"/>
            <a:ext cx="274320" cy="274320"/>
          </a:xfrm>
          <a:prstGeom prst="rect">
            <a:avLst/>
          </a:prstGeom>
          <a:solidFill>
            <a:srgbClr val="F6465D"/>
          </a:solidFill>
          <a:ln w="12700">
            <a:solidFill>
              <a:srgbClr val="F646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63240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📵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" y="4187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to pill — Binance stays 100% visible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987552"/>
            <a:ext cx="3977640" cy="3767328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987552"/>
            <a:ext cx="397764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1097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 LIVE SUBTITLE &amp; DUBBING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65192" y="13898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 Square live streams are mainly in Chinese or English. NOVA translates in real-time.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65192" y="1993392"/>
            <a:ext cx="3611880" cy="1371600"/>
          </a:xfrm>
          <a:prstGeom prst="rect">
            <a:avLst/>
          </a:prstGeom>
          <a:solidFill>
            <a:srgbClr val="000000"/>
          </a:solidFill>
          <a:ln w="12700">
            <a:solidFill>
              <a:srgbClr val="2B313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65192" y="1993392"/>
            <a:ext cx="502920" cy="219456"/>
          </a:xfrm>
          <a:prstGeom prst="rect">
            <a:avLst/>
          </a:prstGeom>
          <a:solidFill>
            <a:srgbClr val="F6465D"/>
          </a:solidFill>
          <a:ln w="12700">
            <a:solidFill>
              <a:srgbClr val="F6465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65192" y="1993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LIVE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541264" y="202082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CZ Binance  ·  42,817 viewers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965192" y="2962656"/>
            <a:ext cx="3611880" cy="402336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2B313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2999232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"BTC just broke 65K resistance — the move we waited for."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965192" y="3401568"/>
            <a:ext cx="3611880" cy="420624"/>
          </a:xfrm>
          <a:prstGeom prst="rect">
            <a:avLst/>
          </a:prstGeom>
          <a:solidFill>
            <a:srgbClr val="0D1422"/>
          </a:solidFill>
          <a:ln w="12700">
            <a:solidFill>
              <a:srgbClr val="2B313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3419856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NOVA:  "BTC vừa phá kháng cự 65K — đây là cú bứt phá chúng ta chờ đợi!"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965192" y="3886200"/>
            <a:ext cx="1097280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65192" y="3886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Subtitle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172200" y="3886200"/>
            <a:ext cx="1097280" cy="274320"/>
          </a:xfrm>
          <a:prstGeom prst="rect">
            <a:avLst/>
          </a:prstGeom>
          <a:solidFill>
            <a:srgbClr val="161A1F"/>
          </a:solidFill>
          <a:ln w="12700">
            <a:solidFill>
              <a:srgbClr val="2B313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3886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Dubbing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379208" y="3886200"/>
            <a:ext cx="1097280" cy="274320"/>
          </a:xfrm>
          <a:prstGeom prst="rect">
            <a:avLst/>
          </a:prstGeom>
          <a:solidFill>
            <a:srgbClr val="161A1F"/>
          </a:solidFill>
          <a:ln w="12700">
            <a:solidFill>
              <a:srgbClr val="2B313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79208" y="3886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Both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965192" y="4251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EN/VI/ZH/TR — auto-summarizes every 5 lines via Claude API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WEB3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areas where beginners lose money most — now fully covered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3977640" cy="3767328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87552"/>
            <a:ext cx="397764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97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WEB3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" y="1444752"/>
            <a:ext cx="1792224" cy="804672"/>
          </a:xfrm>
          <a:prstGeom prst="rect">
            <a:avLst/>
          </a:prstGeom>
          <a:solidFill>
            <a:srgbClr val="161A1F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150876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👜 Web3 Wallet Setup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883664"/>
            <a:ext cx="749808" cy="201168"/>
          </a:xfrm>
          <a:prstGeom prst="rect">
            <a:avLst/>
          </a:prstGeom>
          <a:solidFill>
            <a:srgbClr val="161A1F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88366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414016" y="1444752"/>
            <a:ext cx="1792224" cy="804672"/>
          </a:xfrm>
          <a:prstGeom prst="rect">
            <a:avLst/>
          </a:prstGeom>
          <a:solidFill>
            <a:srgbClr val="161A1F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05456" y="150876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🌉 Bridge &amp; Cross-Chain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05456" y="1883664"/>
            <a:ext cx="749808" cy="201168"/>
          </a:xfrm>
          <a:prstGeom prst="rect">
            <a:avLst/>
          </a:prstGeom>
          <a:solidFill>
            <a:srgbClr val="161A1F"/>
          </a:solidFill>
          <a:ln w="12700">
            <a:solidFill>
              <a:srgbClr val="F646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05456" y="188366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64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75488" y="2450592"/>
            <a:ext cx="1792224" cy="804672"/>
          </a:xfrm>
          <a:prstGeom prst="rect">
            <a:avLst/>
          </a:prstGeom>
          <a:solidFill>
            <a:srgbClr val="161A1F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251460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dApps &amp; DeFi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6928" y="2889504"/>
            <a:ext cx="749808" cy="201168"/>
          </a:xfrm>
          <a:prstGeom prst="rect">
            <a:avLst/>
          </a:prstGeom>
          <a:solidFill>
            <a:srgbClr val="161A1F"/>
          </a:solidFill>
          <a:ln w="12700">
            <a:solidFill>
              <a:srgbClr val="F646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88950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64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414016" y="2450592"/>
            <a:ext cx="1792224" cy="804672"/>
          </a:xfrm>
          <a:prstGeom prst="rect">
            <a:avLst/>
          </a:prstGeom>
          <a:solidFill>
            <a:srgbClr val="161A1F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05456" y="251460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Token Approvals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05456" y="2889504"/>
            <a:ext cx="749808" cy="201168"/>
          </a:xfrm>
          <a:prstGeom prst="rect">
            <a:avLst/>
          </a:prstGeom>
          <a:solidFill>
            <a:srgbClr val="161A1F"/>
          </a:solidFill>
          <a:ln w="12700">
            <a:solidFill>
              <a:srgbClr val="F646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05456" y="288950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64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risk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75488" y="3456432"/>
            <a:ext cx="1792224" cy="804672"/>
          </a:xfrm>
          <a:prstGeom prst="rect">
            <a:avLst/>
          </a:prstGeom>
          <a:solidFill>
            <a:srgbClr val="161A1F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6928" y="35204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⛽ Gas Fees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895344"/>
            <a:ext cx="749808" cy="201168"/>
          </a:xfrm>
          <a:prstGeom prst="rect">
            <a:avLst/>
          </a:prstGeom>
          <a:solidFill>
            <a:srgbClr val="161A1F"/>
          </a:solidFill>
          <a:ln w="12700">
            <a:solidFill>
              <a:srgbClr val="0ECB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89534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EC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414016" y="3456432"/>
            <a:ext cx="1792224" cy="804672"/>
          </a:xfrm>
          <a:prstGeom prst="rect">
            <a:avLst/>
          </a:prstGeom>
          <a:solidFill>
            <a:srgbClr val="161A1F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05456" y="35204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Scam Patterns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05456" y="3895344"/>
            <a:ext cx="749808" cy="201168"/>
          </a:xfrm>
          <a:prstGeom prst="rect">
            <a:avLst/>
          </a:prstGeom>
          <a:solidFill>
            <a:srgbClr val="161A1F"/>
          </a:solidFill>
          <a:ln w="12700">
            <a:solidFill>
              <a:srgbClr val="F6465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05456" y="389534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64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risk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5488" y="44988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guides + danger warnings + NOVA Q&amp;A built in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00600" y="987552"/>
            <a:ext cx="3977640" cy="3767328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987552"/>
            <a:ext cx="3977640" cy="45720"/>
          </a:xfrm>
          <a:prstGeom prst="rect">
            <a:avLst/>
          </a:prstGeom>
          <a:solidFill>
            <a:srgbClr val="F6465D"/>
          </a:solidFill>
          <a:ln w="12700">
            <a:solidFill>
              <a:srgbClr val="F6465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65192" y="1097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FAKE NEWS DETECTOR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965192" y="1463040"/>
            <a:ext cx="3611880" cy="804672"/>
          </a:xfrm>
          <a:prstGeom prst="rect">
            <a:avLst/>
          </a:prstGeom>
          <a:solidFill>
            <a:srgbClr val="161A1F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84064" y="1536192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"Binance shutting down in Asia"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84064" y="1847088"/>
            <a:ext cx="2651760" cy="91440"/>
          </a:xfrm>
          <a:prstGeom prst="rect">
            <a:avLst/>
          </a:prstGeom>
          <a:solidFill>
            <a:srgbClr val="2B3139"/>
          </a:solidFill>
          <a:ln w="12700">
            <a:solidFill>
              <a:srgbClr val="2B313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84064" y="1847088"/>
            <a:ext cx="2492654" cy="91440"/>
          </a:xfrm>
          <a:prstGeom prst="rect">
            <a:avLst/>
          </a:prstGeom>
          <a:solidFill>
            <a:srgbClr val="F6465D"/>
          </a:solidFill>
          <a:ln w="12700">
            <a:solidFill>
              <a:srgbClr val="F6465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84064" y="1993392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64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FAKE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965192" y="2450592"/>
            <a:ext cx="3611880" cy="804672"/>
          </a:xfrm>
          <a:prstGeom prst="rect">
            <a:avLst/>
          </a:prstGeom>
          <a:solidFill>
            <a:srgbClr val="161A1F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084064" y="2523744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"Free airdrop — connect wallet now"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084064" y="2834640"/>
            <a:ext cx="2651760" cy="91440"/>
          </a:xfrm>
          <a:prstGeom prst="rect">
            <a:avLst/>
          </a:prstGeom>
          <a:solidFill>
            <a:srgbClr val="2B3139"/>
          </a:solidFill>
          <a:ln w="12700">
            <a:solidFill>
              <a:srgbClr val="2B313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84064" y="2834640"/>
            <a:ext cx="2598725" cy="91440"/>
          </a:xfrm>
          <a:prstGeom prst="rect">
            <a:avLst/>
          </a:prstGeom>
          <a:solidFill>
            <a:srgbClr val="F6465D"/>
          </a:solidFill>
          <a:ln w="12700">
            <a:solidFill>
              <a:srgbClr val="F6465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84064" y="2980944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64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SCAM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965192" y="3438144"/>
            <a:ext cx="3611880" cy="804672"/>
          </a:xfrm>
          <a:prstGeom prst="rect">
            <a:avLst/>
          </a:prstGeom>
          <a:solidFill>
            <a:srgbClr val="161A1F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084064" y="3511296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"BTC will hit $1 million in 2026"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084064" y="3822192"/>
            <a:ext cx="2651760" cy="91440"/>
          </a:xfrm>
          <a:prstGeom prst="rect">
            <a:avLst/>
          </a:prstGeom>
          <a:solidFill>
            <a:srgbClr val="2B3139"/>
          </a:solidFill>
          <a:ln w="12700">
            <a:solidFill>
              <a:srgbClr val="2B313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84064" y="3822192"/>
            <a:ext cx="1087222" cy="91440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84064" y="3968496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Unverified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965192" y="44622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2-level: quick verdict + deep analysis with official source comparison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real APIs — production-ready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2608" y="987552"/>
            <a:ext cx="3986784" cy="1792224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987552"/>
            <a:ext cx="3986784" cy="4572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426464"/>
            <a:ext cx="3749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widget (HTML/CSS/JS)</a:t>
            </a:r>
            <a:endParaRPr lang="en-US" sz="9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dependencies — drops into Binance app</a:t>
            </a:r>
            <a:endParaRPr lang="en-US" sz="9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Responsive: mobile-first design</a:t>
            </a:r>
            <a:endParaRPr lang="en-US" sz="9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 tabs, voice orb, mini pill UI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08576" y="987552"/>
            <a:ext cx="3986784" cy="1792224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987552"/>
            <a:ext cx="3986784" cy="45720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45736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45736" y="1426464"/>
            <a:ext cx="3749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API (Anthropic)</a:t>
            </a:r>
            <a:endParaRPr lang="en-US" sz="9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Context-aware: full conversation history</a:t>
            </a:r>
            <a:endParaRPr lang="en-US" sz="9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system prompt per user level</a:t>
            </a:r>
            <a:endParaRPr lang="en-US" sz="9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scan: separate analysis pipeline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2608" y="2980944"/>
            <a:ext cx="3986784" cy="1792224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2608" y="2980944"/>
            <a:ext cx="3986784" cy="45720"/>
          </a:xfrm>
          <a:prstGeom prst="rect">
            <a:avLst/>
          </a:prstGeom>
          <a:solidFill>
            <a:srgbClr val="0ECB81"/>
          </a:solidFill>
          <a:ln w="12700">
            <a:solidFill>
              <a:srgbClr val="0ECB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0723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EC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 Integration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" y="3419856"/>
            <a:ext cx="3749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Official Binance AI Agent Skills</a:t>
            </a:r>
            <a:endParaRPr lang="en-US" sz="9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 Alpha: on-chain + price data</a:t>
            </a:r>
            <a:endParaRPr lang="en-US" sz="9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USD-M Futures: funding rates, OI, liquidations</a:t>
            </a:r>
            <a:endParaRPr lang="en-US" sz="9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Risk Detection: rug-pull scanning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08576" y="2980944"/>
            <a:ext cx="3986784" cy="1792224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08576" y="2980944"/>
            <a:ext cx="3986784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45736" y="30723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Media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45736" y="3419856"/>
            <a:ext cx="3749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(STT) — Chrome native</a:t>
            </a:r>
            <a:endParaRPr lang="en-US" sz="9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TTS — real-time dubbing</a:t>
            </a:r>
            <a:endParaRPr lang="en-US" sz="9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Production: ElevenLabs API integration</a:t>
            </a:r>
            <a:endParaRPr lang="en-US" sz="9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subtitle: real-time stream translation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timing has never been better for a global Binance AI guide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2608" y="987552"/>
            <a:ext cx="1993392" cy="987552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185M+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60934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 registered users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32304" y="987552"/>
            <a:ext cx="1993392" cy="987552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05456" y="109728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05456" y="160934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from non-English markets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987552"/>
            <a:ext cx="1993392" cy="987552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45152" y="109728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64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$2B+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645152" y="160934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P2P &amp; Web3 scams in 2025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11696" y="987552"/>
            <a:ext cx="1993392" cy="987552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84848" y="109728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C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784848" y="160934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crypto regulation wave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2608" y="2148840"/>
            <a:ext cx="2743200" cy="2596896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9768" y="224942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User Retention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688336"/>
            <a:ext cx="109728" cy="109728"/>
          </a:xfrm>
          <a:prstGeom prst="ellipse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69748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users churn within 2 weeks without guidance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273552"/>
            <a:ext cx="109728" cy="109728"/>
          </a:xfrm>
          <a:prstGeom prst="ellipse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28269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reduces onboarding friction → higher retention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858768"/>
            <a:ext cx="109728" cy="109728"/>
          </a:xfrm>
          <a:prstGeom prst="ellipse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867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experience from first session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18688" y="2148840"/>
            <a:ext cx="2743200" cy="2596896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55848" y="224942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Revenue Impact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83280" y="2688336"/>
            <a:ext cx="109728" cy="109728"/>
          </a:xfrm>
          <a:prstGeom prst="ellipse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269748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users trade more confidently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83280" y="3273552"/>
            <a:ext cx="109728" cy="109728"/>
          </a:xfrm>
          <a:prstGeom prst="ellipse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0" y="328269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Earn/Futures usage = higher fees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83280" y="3858768"/>
            <a:ext cx="109728" cy="109728"/>
          </a:xfrm>
          <a:prstGeom prst="ellipse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0" y="3867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P2P fraud disputes = lower support costs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44768" y="2148840"/>
            <a:ext cx="2743200" cy="2596896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281928" y="224942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Global Reach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09360" y="2688336"/>
            <a:ext cx="109728" cy="109728"/>
          </a:xfrm>
          <a:prstGeom prst="ellipse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269748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Auto-translate removes language barriers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09360" y="3273552"/>
            <a:ext cx="109728" cy="109728"/>
          </a:xfrm>
          <a:prstGeom prst="ellipse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328269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SEA, LATAM, MENA — fastest growing markets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09360" y="3858768"/>
            <a:ext cx="109728" cy="109728"/>
          </a:xfrm>
          <a:prstGeom prst="ellipse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3867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 feed keeps users engaged on Square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competition demo to production deployment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084832"/>
            <a:ext cx="8229600" cy="73152"/>
          </a:xfrm>
          <a:prstGeom prst="rect">
            <a:avLst/>
          </a:prstGeom>
          <a:solidFill>
            <a:srgbClr val="2B3139"/>
          </a:solidFill>
          <a:ln w="12700">
            <a:solidFill>
              <a:srgbClr val="2B31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84832"/>
            <a:ext cx="2743200" cy="73152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53312" y="1956816"/>
            <a:ext cx="256032" cy="256032"/>
          </a:xfrm>
          <a:prstGeom prst="ellipse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359152"/>
            <a:ext cx="2560320" cy="2286000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59152"/>
            <a:ext cx="2560320" cy="45720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245059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NOW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3776" y="2706624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" y="298094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demo (8 features)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331012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Claude API integration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" y="363931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12 Binance AI Skills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" y="3968496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Voice + Live Dubbing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" y="429768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Onboarding flow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96512" y="1956816"/>
            <a:ext cx="256032" cy="256032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08960" y="2359152"/>
            <a:ext cx="2560320" cy="2286000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08960" y="2359152"/>
            <a:ext cx="2560320" cy="4572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36976" y="245059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Integration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36976" y="2706624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36976" y="298094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 app SDK integration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36976" y="331012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Binance Square API feed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36976" y="363931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voice dubbing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36976" y="3968496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portfolio context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36976" y="429768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 system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39712" y="1956816"/>
            <a:ext cx="256032" cy="256032"/>
          </a:xfrm>
          <a:prstGeom prst="ellipse">
            <a:avLst/>
          </a:prstGeom>
          <a:solidFill>
            <a:srgbClr val="0ECB81"/>
          </a:solidFill>
          <a:ln w="12700">
            <a:solidFill>
              <a:srgbClr val="0ECB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52160" y="2359152"/>
            <a:ext cx="2560320" cy="2286000"/>
          </a:xfrm>
          <a:prstGeom prst="rect">
            <a:avLst/>
          </a:prstGeom>
          <a:solidFill>
            <a:srgbClr val="1E2329"/>
          </a:solidFill>
          <a:ln w="12700">
            <a:solidFill>
              <a:srgbClr val="2B313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852160" y="2359152"/>
            <a:ext cx="2560320" cy="45720"/>
          </a:xfrm>
          <a:prstGeom prst="rect">
            <a:avLst/>
          </a:prstGeom>
          <a:solidFill>
            <a:srgbClr val="0ECB81"/>
          </a:solidFill>
          <a:ln w="12700">
            <a:solidFill>
              <a:srgbClr val="0ECB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0176" y="245059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C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Scale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980176" y="2706624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Q3-Q4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80176" y="298094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language support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80176" y="331012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trading assistance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80176" y="363931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trading features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80176" y="3968496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/ B2B tier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80176" y="429768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for exchanges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645152"/>
            <a:ext cx="8412480" cy="365760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" y="4672584"/>
            <a:ext cx="8119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NOVA's architecture is framework-agnostic — can be embedded in any exchange or financial app, not just Binance.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1828800"/>
            <a:ext cx="6400800" cy="6400800"/>
          </a:xfrm>
          <a:prstGeom prst="ellipse">
            <a:avLst/>
          </a:prstGeom>
          <a:solidFill>
            <a:srgbClr val="F0B90B">
              <a:alpha val="6000"/>
            </a:srgbClr>
          </a:solidFill>
          <a:ln w="12700">
            <a:solidFill>
              <a:srgbClr val="F0B90B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548640"/>
            <a:ext cx="1828800" cy="1828800"/>
          </a:xfrm>
          <a:prstGeom prst="ellipse">
            <a:avLst/>
          </a:prstGeom>
          <a:solidFill>
            <a:srgbClr val="F0B90B"/>
          </a:solidFill>
          <a:ln w="31750">
            <a:solidFill>
              <a:srgbClr val="FF6B3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0000"/>
                </a:solidFill>
              </a:rPr>
              <a:t>✦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371600" y="2542032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1000" kern="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828800" y="33649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Global Binance AI Guide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385876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"Binance speaks every language. Now it finally understands yours."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88720" y="44074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88720" y="48280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26080" y="44074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926080" y="48280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44074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63440" y="48280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0" y="44074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00800" y="48280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Helped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 – AI Innovation Competition 2026</dc:title>
  <dc:subject>PptxGenJS Presentation</dc:subject>
  <dc:creator>PptxGenJS</dc:creator>
  <cp:lastModifiedBy>PptxGenJS</cp:lastModifiedBy>
  <cp:revision>1</cp:revision>
  <dcterms:created xsi:type="dcterms:W3CDTF">2026-03-17T15:16:55Z</dcterms:created>
  <dcterms:modified xsi:type="dcterms:W3CDTF">2026-03-17T15:16:55Z</dcterms:modified>
</cp:coreProperties>
</file>